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68"/>
  </p:notesMasterIdLst>
  <p:handoutMasterIdLst>
    <p:handoutMasterId r:id="rId69"/>
  </p:handoutMasterIdLst>
  <p:sldIdLst>
    <p:sldId id="256" r:id="rId2"/>
    <p:sldId id="276" r:id="rId3"/>
    <p:sldId id="277" r:id="rId4"/>
    <p:sldId id="278" r:id="rId5"/>
    <p:sldId id="280" r:id="rId6"/>
    <p:sldId id="257" r:id="rId7"/>
    <p:sldId id="258" r:id="rId8"/>
    <p:sldId id="378" r:id="rId9"/>
    <p:sldId id="351" r:id="rId10"/>
    <p:sldId id="281" r:id="rId11"/>
    <p:sldId id="282" r:id="rId12"/>
    <p:sldId id="287" r:id="rId13"/>
    <p:sldId id="259" r:id="rId14"/>
    <p:sldId id="288" r:id="rId15"/>
    <p:sldId id="405" r:id="rId16"/>
    <p:sldId id="404" r:id="rId17"/>
    <p:sldId id="261" r:id="rId18"/>
    <p:sldId id="353" r:id="rId19"/>
    <p:sldId id="302" r:id="rId20"/>
    <p:sldId id="269" r:id="rId21"/>
    <p:sldId id="382" r:id="rId22"/>
    <p:sldId id="303" r:id="rId23"/>
    <p:sldId id="333" r:id="rId24"/>
    <p:sldId id="304" r:id="rId25"/>
    <p:sldId id="270" r:id="rId26"/>
    <p:sldId id="340" r:id="rId27"/>
    <p:sldId id="335" r:id="rId28"/>
    <p:sldId id="336" r:id="rId29"/>
    <p:sldId id="345" r:id="rId30"/>
    <p:sldId id="383" r:id="rId31"/>
    <p:sldId id="358" r:id="rId32"/>
    <p:sldId id="365" r:id="rId33"/>
    <p:sldId id="366" r:id="rId34"/>
    <p:sldId id="367" r:id="rId35"/>
    <p:sldId id="406" r:id="rId36"/>
    <p:sldId id="407" r:id="rId37"/>
    <p:sldId id="408" r:id="rId38"/>
    <p:sldId id="409" r:id="rId39"/>
    <p:sldId id="410" r:id="rId40"/>
    <p:sldId id="411" r:id="rId41"/>
    <p:sldId id="401" r:id="rId42"/>
    <p:sldId id="412" r:id="rId43"/>
    <p:sldId id="413" r:id="rId44"/>
    <p:sldId id="388" r:id="rId45"/>
    <p:sldId id="389" r:id="rId46"/>
    <p:sldId id="414" r:id="rId47"/>
    <p:sldId id="390" r:id="rId48"/>
    <p:sldId id="391" r:id="rId49"/>
    <p:sldId id="392" r:id="rId50"/>
    <p:sldId id="356" r:id="rId51"/>
    <p:sldId id="295" r:id="rId52"/>
    <p:sldId id="296" r:id="rId53"/>
    <p:sldId id="297" r:id="rId54"/>
    <p:sldId id="298" r:id="rId55"/>
    <p:sldId id="299" r:id="rId56"/>
    <p:sldId id="355" r:id="rId57"/>
    <p:sldId id="347" r:id="rId58"/>
    <p:sldId id="348" r:id="rId59"/>
    <p:sldId id="399" r:id="rId60"/>
    <p:sldId id="349" r:id="rId61"/>
    <p:sldId id="350" r:id="rId62"/>
    <p:sldId id="415" r:id="rId63"/>
    <p:sldId id="352" r:id="rId64"/>
    <p:sldId id="354" r:id="rId65"/>
    <p:sldId id="400" r:id="rId66"/>
    <p:sldId id="309" r:id="rId67"/>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09" autoAdjust="0"/>
    <p:restoredTop sz="94660"/>
  </p:normalViewPr>
  <p:slideViewPr>
    <p:cSldViewPr snapToObjects="1">
      <p:cViewPr varScale="1">
        <p:scale>
          <a:sx n="125" d="100"/>
          <a:sy n="125" d="100"/>
        </p:scale>
        <p:origin x="1464" y="90"/>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9/24/2020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9/24/2020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lXNu0VBVCUc"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3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8.gif"/><Relationship Id="rId3" Type="http://schemas.openxmlformats.org/officeDocument/2006/relationships/image" Target="../media/image10.gif"/><Relationship Id="rId7" Type="http://schemas.openxmlformats.org/officeDocument/2006/relationships/image" Target="../media/image9.gif"/><Relationship Id="rId2" Type="http://schemas.openxmlformats.org/officeDocument/2006/relationships/image" Target="../media/image12.gif"/><Relationship Id="rId1" Type="http://schemas.openxmlformats.org/officeDocument/2006/relationships/slideLayout" Target="../slideLayouts/slideLayout2.xml"/><Relationship Id="rId6" Type="http://schemas.openxmlformats.org/officeDocument/2006/relationships/image" Target="../media/image13.gif"/><Relationship Id="rId5" Type="http://schemas.openxmlformats.org/officeDocument/2006/relationships/image" Target="../media/image7.gif"/><Relationship Id="rId4" Type="http://schemas.openxmlformats.org/officeDocument/2006/relationships/image" Target="../media/image11.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a:xfrm>
            <a:off x="647700" y="2116713"/>
            <a:ext cx="7772400" cy="1470025"/>
          </a:xfrm>
        </p:spPr>
        <p:txBody>
          <a:bodyPr/>
          <a:lstStyle/>
          <a:p>
            <a:pPr eaLnBrk="1" hangingPunct="1"/>
            <a:r>
              <a:rPr lang="en-US" dirty="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Requirements engineering processes</a:t>
            </a:r>
          </a:p>
          <a:p>
            <a:r>
              <a:rPr lang="en-US" dirty="0"/>
              <a:t>Requirements elicitation</a:t>
            </a:r>
            <a:endParaRPr lang="en-GB" dirty="0"/>
          </a:p>
          <a:p>
            <a:r>
              <a:rPr lang="en-US" dirty="0"/>
              <a:t>Requirements </a:t>
            </a:r>
            <a:r>
              <a:rPr lang="en-GB" dirty="0"/>
              <a:t>specification</a:t>
            </a:r>
          </a:p>
          <a:p>
            <a:r>
              <a:rPr lang="en-US" dirty="0"/>
              <a:t>Requirements validation</a:t>
            </a:r>
            <a:endParaRPr lang="en-GB" dirty="0"/>
          </a:p>
          <a:p>
            <a:r>
              <a:rPr lang="en-US" dirty="0"/>
              <a:t>Requirements change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a customer requires from a system and the constraints under which it operates and is developed.</a:t>
            </a:r>
          </a:p>
          <a:p>
            <a:r>
              <a:rPr lang="en-GB" dirty="0"/>
              <a:t>The system requirements are 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dirty="0"/>
              <a:t>Types of requirements</a:t>
            </a:r>
          </a:p>
        </p:txBody>
      </p:sp>
      <p:sp>
        <p:nvSpPr>
          <p:cNvPr id="9219" name="Rectangle 3"/>
          <p:cNvSpPr>
            <a:spLocks noGrp="1" noChangeArrowheads="1"/>
          </p:cNvSpPr>
          <p:nvPr>
            <p:ph idx="1"/>
          </p:nvPr>
        </p:nvSpPr>
        <p:spPr>
          <a:noFill/>
          <a:ln/>
        </p:spPr>
        <p:txBody>
          <a:bodyPr lIns="90487" tIns="44450" rIns="90487" bIns="44450"/>
          <a:lstStyle/>
          <a:p>
            <a:r>
              <a:rPr lang="en-GB" dirty="0"/>
              <a:t>User requirements</a:t>
            </a:r>
          </a:p>
          <a:p>
            <a:pPr lvl="1"/>
            <a:r>
              <a:rPr lang="en-GB" dirty="0"/>
              <a:t>Statements in natural language plus diagrams of the services the system provides and its operational constraints. Written for customers.</a:t>
            </a:r>
          </a:p>
          <a:p>
            <a:r>
              <a:rPr lang="en-GB" dirty="0"/>
              <a:t>System requirements</a:t>
            </a:r>
          </a:p>
          <a:p>
            <a:pPr lvl="1"/>
            <a:r>
              <a:rPr lang="en-GB" dirty="0"/>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r>
              <a:rPr lang="en-US" dirty="0"/>
              <a:t>Any person or organization who is affected by the system in some way and so who has a legitimate interest</a:t>
            </a:r>
          </a:p>
          <a:p>
            <a:r>
              <a:rPr lang="en-US" dirty="0"/>
              <a:t>Stakeholder types</a:t>
            </a:r>
          </a:p>
          <a:p>
            <a:pPr lvl="1"/>
            <a:r>
              <a:rPr lang="en-US" dirty="0"/>
              <a:t>End users</a:t>
            </a:r>
          </a:p>
          <a:p>
            <a:pPr lvl="1"/>
            <a:r>
              <a:rPr lang="en-US" dirty="0"/>
              <a:t>System managers</a:t>
            </a:r>
          </a:p>
          <a:p>
            <a:pPr lvl="1"/>
            <a:r>
              <a:rPr lang="en-US" dirty="0"/>
              <a:t>System owners</a:t>
            </a:r>
          </a:p>
          <a:p>
            <a:pPr lvl="1"/>
            <a:r>
              <a:rPr lang="en-US" dirty="0"/>
              <a:t>External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NFR Example - 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7648884"/>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273132" y="1719071"/>
            <a:ext cx="3722804" cy="4912233"/>
          </a:xfrm>
        </p:spPr>
        <p:txBody>
          <a:bodyPr>
            <a:noAutofit/>
          </a:bodyPr>
          <a:lstStyle/>
          <a:p>
            <a:r>
              <a:rPr lang="en-US" sz="1600" dirty="0">
                <a:solidFill>
                  <a:srgbClr val="6600FF"/>
                </a:solidFill>
              </a:rPr>
              <a:t>Domain requirements </a:t>
            </a:r>
            <a:r>
              <a:rPr lang="en-US" sz="1600" dirty="0"/>
              <a:t>reflect the environment in which the system operates so, when we talk about an application domain we mean environments such as train operation, medical records, e-commerce etc.</a:t>
            </a:r>
          </a:p>
          <a:p>
            <a:r>
              <a:rPr lang="en-US" sz="1600" dirty="0"/>
              <a:t>Because these requirements are </a:t>
            </a:r>
            <a:r>
              <a:rPr lang="en-US" sz="1600" dirty="0" err="1"/>
              <a:t>specialised</a:t>
            </a:r>
            <a:r>
              <a:rPr lang="en-US" sz="1600" dirty="0"/>
              <a:t>, software engineers often find it difficult to understand how they are related to other system requirements.</a:t>
            </a:r>
          </a:p>
          <a:p>
            <a:r>
              <a:rPr lang="en-US" sz="1600" dirty="0"/>
              <a:t>Domain requirements are important because they often reflect fundamentals of the application domain. If these requirements are not satisfied, it may be impossible to make the system work satisfactorily. </a:t>
            </a:r>
          </a:p>
          <a:p>
            <a:endParaRPr lang="en-US" sz="1600" dirty="0"/>
          </a:p>
        </p:txBody>
      </p:sp>
      <p:sp>
        <p:nvSpPr>
          <p:cNvPr id="3" name="Content Placeholder 2"/>
          <p:cNvSpPr>
            <a:spLocks noGrp="1"/>
          </p:cNvSpPr>
          <p:nvPr>
            <p:ph sz="half" idx="2"/>
          </p:nvPr>
        </p:nvSpPr>
        <p:spPr>
          <a:xfrm>
            <a:off x="4103804" y="1719071"/>
            <a:ext cx="4802690" cy="4912233"/>
          </a:xfrm>
        </p:spPr>
        <p:txBody>
          <a:bodyPr/>
          <a:lstStyle/>
          <a:p>
            <a:r>
              <a:rPr lang="en-US" sz="1600" dirty="0"/>
              <a:t>For example, the requirements for the insulin pump system that delivers insulin on demand include the following domain requirement:</a:t>
            </a:r>
          </a:p>
          <a:p>
            <a:pPr lvl="1"/>
            <a:r>
              <a:rPr lang="en-US" sz="1400" dirty="0"/>
              <a:t>The system safety shall be assured according to standard IEC 60601-1:Medical Electrical Equipment – Part 1:General Requirements for Basic Safety and Essential Performance.</a:t>
            </a:r>
          </a:p>
          <a:p>
            <a:r>
              <a:rPr lang="en-US" sz="1600" dirty="0"/>
              <a:t>This requirement means that the developers must be familiar with that standard to ensure that they do not violate it. It constrains both the design of the device and the development process. Other requirements have to be checked against this standard.</a:t>
            </a:r>
          </a:p>
          <a:p>
            <a:r>
              <a:rPr lang="en-US" sz="1600" dirty="0">
                <a:solidFill>
                  <a:srgbClr val="6600FF"/>
                </a:solidFill>
              </a:rPr>
              <a:t>Domain experts may leave information out of a requirement simply because it is so obvious to them</a:t>
            </a:r>
            <a:r>
              <a:rPr lang="en-US" sz="1600" dirty="0"/>
              <a:t>. However, it may not be obvious to the developers of the system and they may therefore implement the requirement in the wrong way.</a:t>
            </a:r>
          </a:p>
          <a:p>
            <a:endParaRPr lang="en-US" dirty="0"/>
          </a:p>
        </p:txBody>
      </p:sp>
      <p:sp>
        <p:nvSpPr>
          <p:cNvPr id="4" name="Date Placeholder 3"/>
          <p:cNvSpPr>
            <a:spLocks noGrp="1"/>
          </p:cNvSpPr>
          <p:nvPr>
            <p:ph type="dt" sz="half" idx="10"/>
          </p:nvPr>
        </p:nvSpPr>
        <p:spPr/>
        <p:txBody>
          <a:bodyPr/>
          <a:lstStyle/>
          <a:p>
            <a:pPr>
              <a:defRPr/>
            </a:pPr>
            <a:r>
              <a:rPr lang="en-GB"/>
              <a:t>30/10/2014</a:t>
            </a:r>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Domain Requirements</a:t>
            </a:r>
          </a:p>
        </p:txBody>
      </p:sp>
    </p:spTree>
    <p:extLst>
      <p:ext uri="{BB962C8B-B14F-4D97-AF65-F5344CB8AC3E}">
        <p14:creationId xmlns:p14="http://schemas.microsoft.com/office/powerpoint/2010/main" val="895804040"/>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engineering processes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sz="2800" b="1" dirty="0">
                <a:solidFill>
                  <a:srgbClr val="FF0000"/>
                </a:solidFill>
              </a:rPr>
              <a:t>Requirements elicitation;</a:t>
            </a:r>
          </a:p>
          <a:p>
            <a:pPr lvl="1">
              <a:lnSpc>
                <a:spcPct val="90000"/>
              </a:lnSpc>
            </a:pPr>
            <a:r>
              <a:rPr lang="en-GB" sz="2800" b="1" dirty="0">
                <a:solidFill>
                  <a:srgbClr val="FF0000"/>
                </a:solidFill>
              </a:rPr>
              <a:t>Requirements analysis;</a:t>
            </a:r>
          </a:p>
          <a:p>
            <a:pPr lvl="1">
              <a:lnSpc>
                <a:spcPct val="90000"/>
              </a:lnSpc>
            </a:pPr>
            <a:r>
              <a:rPr lang="en-GB" sz="2800" b="1" dirty="0">
                <a:solidFill>
                  <a:srgbClr val="FF0000"/>
                </a:solidFill>
              </a:rPr>
              <a:t>Requirements validation;</a:t>
            </a:r>
          </a:p>
          <a:p>
            <a:pPr lvl="1">
              <a:lnSpc>
                <a:spcPct val="90000"/>
              </a:lnSpc>
            </a:pPr>
            <a:r>
              <a:rPr lang="en-GB" sz="2800" b="1" dirty="0">
                <a:solidFill>
                  <a:srgbClr val="FF0000"/>
                </a:solidFill>
              </a:rPr>
              <a:t>Requirements management.</a:t>
            </a:r>
          </a:p>
          <a:p>
            <a:pPr>
              <a:lnSpc>
                <a:spcPct val="90000"/>
              </a:lnSpc>
            </a:pPr>
            <a:r>
              <a:rPr lang="en-GB" dirty="0"/>
              <a:t>In practice, RE is an iterative activity in which these processes are interleaved.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pic>
        <p:nvPicPr>
          <p:cNvPr id="4" name="Picture 3" descr="4.12 ReqEngSpiral.eps"/>
          <p:cNvPicPr>
            <a:picLocks noChangeAspect="1"/>
          </p:cNvPicPr>
          <p:nvPr/>
        </p:nvPicPr>
        <p:blipFill>
          <a:blip r:embed="rId2"/>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elicitation</a:t>
            </a:r>
            <a:br>
              <a:rPr lang="en-US" dirty="0"/>
            </a:br>
            <a:br>
              <a:rPr lang="en-US" dirty="0"/>
            </a:br>
            <a:r>
              <a:rPr lang="en-US" dirty="0">
                <a:hlinkClick r:id="rId2"/>
              </a:rPr>
              <a:t>Video</a:t>
            </a:r>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a:t>
            </a:r>
          </a:p>
        </p:txBody>
      </p:sp>
      <p:sp>
        <p:nvSpPr>
          <p:cNvPr id="7171" name="Rectangle 3"/>
          <p:cNvSpPr>
            <a:spLocks noGrp="1" noChangeArrowheads="1"/>
          </p:cNvSpPr>
          <p:nvPr>
            <p:ph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3" name="Content Placeholder 2"/>
          <p:cNvSpPr>
            <a:spLocks noGrp="1"/>
          </p:cNvSpPr>
          <p:nvPr>
            <p:ph idx="1"/>
          </p:nvPr>
        </p:nvSpPr>
        <p:spPr/>
        <p:txBody>
          <a:bodyPr/>
          <a:lstStyle/>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Stages include:</a:t>
            </a:r>
          </a:p>
          <a:p>
            <a:pPr lvl="1"/>
            <a:r>
              <a:rPr lang="en-US" dirty="0"/>
              <a:t>Requirements discovery,</a:t>
            </a:r>
          </a:p>
          <a:p>
            <a:pPr lvl="1"/>
            <a:r>
              <a:rPr lang="en-US" dirty="0"/>
              <a:t>Requirements classification and organization,</a:t>
            </a:r>
          </a:p>
          <a:p>
            <a:pPr lvl="1"/>
            <a:r>
              <a:rPr lang="en-US" dirty="0"/>
              <a:t>Requirements prioritization and negotiation,</a:t>
            </a:r>
          </a:p>
          <a:p>
            <a:pPr lvl="1"/>
            <a:r>
              <a:rPr lang="en-US" dirty="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 – </a:t>
            </a:r>
            <a:r>
              <a:rPr lang="en-GB" sz="2400" b="1" dirty="0">
                <a:solidFill>
                  <a:srgbClr val="FF0000"/>
                </a:solidFill>
              </a:rPr>
              <a:t>Elicitation</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 - </a:t>
            </a:r>
            <a:r>
              <a:rPr lang="en-GB" sz="2400" b="1" dirty="0">
                <a:solidFill>
                  <a:srgbClr val="FF0000"/>
                </a:solidFill>
              </a:rPr>
              <a:t>Analysis</a:t>
            </a:r>
          </a:p>
          <a:p>
            <a:pPr lvl="1">
              <a:lnSpc>
                <a:spcPct val="90000"/>
              </a:lnSpc>
            </a:pPr>
            <a:r>
              <a:rPr lang="en-GB" sz="2000" dirty="0"/>
              <a:t>Groups related requirements and organises them into coherent clusters.</a:t>
            </a:r>
          </a:p>
          <a:p>
            <a:pPr>
              <a:lnSpc>
                <a:spcPct val="90000"/>
              </a:lnSpc>
            </a:pPr>
            <a:r>
              <a:rPr lang="en-GB" sz="2400" dirty="0"/>
              <a:t>Prioritisation and negotiation - </a:t>
            </a:r>
            <a:r>
              <a:rPr lang="en-GB" b="1" dirty="0">
                <a:solidFill>
                  <a:srgbClr val="FF0000"/>
                </a:solidFill>
              </a:rPr>
              <a:t>Analysis</a:t>
            </a:r>
            <a:endParaRPr lang="en-GB" sz="2400" dirty="0"/>
          </a:p>
          <a:p>
            <a:pPr lvl="1">
              <a:lnSpc>
                <a:spcPct val="90000"/>
              </a:lnSpc>
            </a:pPr>
            <a:r>
              <a:rPr lang="en-GB" sz="2000" dirty="0"/>
              <a:t>Prioritising requirements and resolving requirements conflicts.</a:t>
            </a:r>
          </a:p>
          <a:p>
            <a:pPr>
              <a:lnSpc>
                <a:spcPct val="90000"/>
              </a:lnSpc>
            </a:pPr>
            <a:r>
              <a:rPr lang="en-GB" sz="2400" dirty="0"/>
              <a:t>Requirements specification - </a:t>
            </a:r>
            <a:r>
              <a:rPr lang="en-GB" b="1" dirty="0">
                <a:solidFill>
                  <a:srgbClr val="FF0000"/>
                </a:solidFill>
              </a:rPr>
              <a:t>Analysis</a:t>
            </a:r>
            <a:endParaRPr lang="en-GB" sz="2400" dirty="0"/>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r>
              <a:rPr lang="en-US" dirty="0"/>
              <a:t>The process of gathering information about the required and existing systems and distilling the user and system requirements from this information.</a:t>
            </a:r>
          </a:p>
          <a:p>
            <a:r>
              <a:rPr lang="en-US" dirty="0"/>
              <a:t>Interaction is with system stakeholders from managers to external regulators.</a:t>
            </a:r>
          </a:p>
          <a:p>
            <a:r>
              <a:rPr lang="en-US" dirty="0"/>
              <a:t>Systems normally have a range of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28</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p>
          <a:p>
            <a:pPr>
              <a:lnSpc>
                <a:spcPct val="90000"/>
              </a:lnSpc>
            </a:pPr>
            <a:r>
              <a:rPr lang="en-US" dirty="0"/>
              <a:t>Interviewers need to be open-minded without pre-conceived ideas of what the system should do</a:t>
            </a:r>
          </a:p>
          <a:p>
            <a:pPr>
              <a:lnSpc>
                <a:spcPct val="90000"/>
              </a:lnSpc>
            </a:pPr>
            <a:r>
              <a:rPr lang="en-US" sz="2400" dirty="0"/>
              <a:t>You need to prompt the use to talk about the system by suggesting requirements rather than simply asking them what they want.</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p:txBody>
          <a:bodyPr/>
          <a:lstStyle/>
          <a:p>
            <a:pPr>
              <a:lnSpc>
                <a:spcPct val="90000"/>
              </a:lnSpc>
            </a:pPr>
            <a:r>
              <a:rPr lang="en-US" dirty="0"/>
              <a:t>Application specialists may use language to describe their work that isn’t easy for the requirements engineer to understand.</a:t>
            </a:r>
          </a:p>
          <a:p>
            <a:pPr>
              <a:lnSpc>
                <a:spcPct val="90000"/>
              </a:lnSpc>
            </a:pPr>
            <a:r>
              <a:rPr lang="en-US" dirty="0"/>
              <a:t>Interviews 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specification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down the user and system requirements in a requirements document.</a:t>
            </a:r>
          </a:p>
          <a:p>
            <a:r>
              <a:rPr lang="en-US" dirty="0"/>
              <a:t>User requirements have to be understandable by end-users and customers who do not have a technical background.</a:t>
            </a:r>
          </a:p>
          <a:p>
            <a:r>
              <a:rPr lang="en-US" dirty="0"/>
              <a:t>System requirements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1700808"/>
            <a:ext cx="8321348" cy="4407408"/>
          </a:xfrm>
        </p:spPr>
        <p:txBody>
          <a:bodyPr>
            <a:normAutofit/>
          </a:bodyPr>
          <a:lstStyle/>
          <a:p>
            <a:pPr>
              <a:buSzPct val="75000"/>
              <a:buFont typeface="Arial" panose="020B0604020202020204" pitchFamily="34" charset="0"/>
              <a:buChar char="•"/>
            </a:pPr>
            <a:r>
              <a:rPr lang="en-US" sz="4400" dirty="0"/>
              <a:t>S</a:t>
            </a:r>
            <a:r>
              <a:rPr lang="en-US" sz="1800" dirty="0"/>
              <a:t>pecific</a:t>
            </a:r>
            <a:endParaRPr lang="en-US" sz="4400" dirty="0"/>
          </a:p>
        </p:txBody>
      </p:sp>
      <p:pic>
        <p:nvPicPr>
          <p:cNvPr id="19" name="Picture 18"/>
          <p:cNvPicPr>
            <a:picLocks noChangeAspect="1"/>
          </p:cNvPicPr>
          <p:nvPr/>
        </p:nvPicPr>
        <p:blipFill>
          <a:blip r:embed="rId2"/>
          <a:stretch>
            <a:fillRect/>
          </a:stretch>
        </p:blipFill>
        <p:spPr>
          <a:xfrm flipH="1">
            <a:off x="6884235" y="260648"/>
            <a:ext cx="496076" cy="1284499"/>
          </a:xfrm>
          <a:prstGeom prst="rect">
            <a:avLst/>
          </a:prstGeom>
        </p:spPr>
      </p:pic>
      <p:pic>
        <p:nvPicPr>
          <p:cNvPr id="22" name="Picture 21"/>
          <p:cNvPicPr>
            <a:picLocks noChangeAspect="1"/>
          </p:cNvPicPr>
          <p:nvPr/>
        </p:nvPicPr>
        <p:blipFill>
          <a:blip r:embed="rId3"/>
          <a:stretch>
            <a:fillRect/>
          </a:stretch>
        </p:blipFill>
        <p:spPr>
          <a:xfrm>
            <a:off x="204714" y="2086918"/>
            <a:ext cx="838894" cy="1270074"/>
          </a:xfrm>
          <a:prstGeom prst="rect">
            <a:avLst/>
          </a:prstGeom>
        </p:spPr>
      </p:pic>
      <p:sp>
        <p:nvSpPr>
          <p:cNvPr id="23" name="Rectangle 22"/>
          <p:cNvSpPr/>
          <p:nvPr/>
        </p:nvSpPr>
        <p:spPr>
          <a:xfrm>
            <a:off x="2555776" y="3043517"/>
            <a:ext cx="4154390" cy="1515781"/>
          </a:xfrm>
          <a:prstGeom prst="rect">
            <a:avLst/>
          </a:prstGeom>
          <a:solidFill>
            <a:srgbClr val="E7D6C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Requirements may start out abstract, but they must eventually be detailed and specific enough so they can be implemented by developers</a:t>
            </a:r>
          </a:p>
        </p:txBody>
      </p:sp>
      <p:sp>
        <p:nvSpPr>
          <p:cNvPr id="24" name="Rectangle 23"/>
          <p:cNvSpPr/>
          <p:nvPr/>
        </p:nvSpPr>
        <p:spPr>
          <a:xfrm>
            <a:off x="372873" y="4873549"/>
            <a:ext cx="4260098" cy="1569660"/>
          </a:xfrm>
          <a:prstGeom prst="rect">
            <a:avLst/>
          </a:prstGeom>
        </p:spPr>
        <p:txBody>
          <a:bodyPr wrap="square">
            <a:spAutoFit/>
          </a:bodyPr>
          <a:lstStyle/>
          <a:p>
            <a:pPr algn="ctr"/>
            <a:r>
              <a:rPr lang="en-US" dirty="0">
                <a:solidFill>
                  <a:srgbClr val="6600FF"/>
                </a:solidFill>
                <a:latin typeface="Comic Sans MS" panose="030F0702030302020204" pitchFamily="66" charset="0"/>
              </a:rPr>
              <a:t>Does this requirement contain the proper amount of detail – no more or less than what is needed? </a:t>
            </a:r>
          </a:p>
        </p:txBody>
      </p:sp>
      <p:sp>
        <p:nvSpPr>
          <p:cNvPr id="26" name="Rectangle 25"/>
          <p:cNvSpPr/>
          <p:nvPr/>
        </p:nvSpPr>
        <p:spPr>
          <a:xfrm>
            <a:off x="5292081" y="5058214"/>
            <a:ext cx="3387944" cy="1200329"/>
          </a:xfrm>
          <a:prstGeom prst="rect">
            <a:avLst/>
          </a:prstGeom>
        </p:spPr>
        <p:txBody>
          <a:bodyPr wrap="square">
            <a:spAutoFit/>
          </a:bodyPr>
          <a:lstStyle/>
          <a:p>
            <a:pPr algn="ctr"/>
            <a:r>
              <a:rPr lang="en-US" dirty="0">
                <a:solidFill>
                  <a:srgbClr val="6600FF"/>
                </a:solidFill>
                <a:latin typeface="Comic Sans MS" panose="030F0702030302020204" pitchFamily="66" charset="0"/>
              </a:rPr>
              <a:t>Is the requirement both</a:t>
            </a:r>
            <a:br>
              <a:rPr lang="en-US" dirty="0">
                <a:solidFill>
                  <a:srgbClr val="6600FF"/>
                </a:solidFill>
                <a:latin typeface="Comic Sans MS" panose="030F0702030302020204" pitchFamily="66" charset="0"/>
              </a:rPr>
            </a:br>
            <a:r>
              <a:rPr lang="en-US" dirty="0">
                <a:solidFill>
                  <a:srgbClr val="6600FF"/>
                </a:solidFill>
                <a:latin typeface="Comic Sans MS" panose="030F0702030302020204" pitchFamily="66" charset="0"/>
              </a:rPr>
              <a:t>concise and complete?</a:t>
            </a:r>
          </a:p>
        </p:txBody>
      </p:sp>
      <p:sp>
        <p:nvSpPr>
          <p:cNvPr id="25" name="Rectangle 24"/>
          <p:cNvSpPr/>
          <p:nvPr/>
        </p:nvSpPr>
        <p:spPr>
          <a:xfrm>
            <a:off x="4312591" y="1700808"/>
            <a:ext cx="4572000" cy="1323439"/>
          </a:xfrm>
          <a:prstGeom prst="rect">
            <a:avLst/>
          </a:prstGeom>
        </p:spPr>
        <p:txBody>
          <a:bodyPr>
            <a:spAutoFit/>
          </a:bodyPr>
          <a:lstStyle/>
          <a:p>
            <a:r>
              <a:rPr lang="en-GB" sz="2000" dirty="0"/>
              <a:t>Non-functional requirements may be very difficult to state precisely and imprecise requirements may be difficult to verify. </a:t>
            </a:r>
          </a:p>
        </p:txBody>
      </p:sp>
    </p:spTree>
    <p:extLst>
      <p:ext uri="{BB962C8B-B14F-4D97-AF65-F5344CB8AC3E}">
        <p14:creationId xmlns:p14="http://schemas.microsoft.com/office/powerpoint/2010/main" val="2209397397"/>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1700808"/>
            <a:ext cx="8321348" cy="4407408"/>
          </a:xfrm>
        </p:spPr>
        <p:txBody>
          <a:bodyPr>
            <a:normAutofit/>
          </a:bodyPr>
          <a:lstStyle/>
          <a:p>
            <a:pPr marL="330200" indent="-330200">
              <a:buSzPct val="75000"/>
              <a:buFont typeface="Arial" panose="020B0604020202020204" pitchFamily="34" charset="0"/>
              <a:buChar char="•"/>
            </a:pPr>
            <a:r>
              <a:rPr lang="en-US" sz="4400" dirty="0"/>
              <a:t> M</a:t>
            </a:r>
            <a:r>
              <a:rPr lang="en-US" sz="1800" dirty="0"/>
              <a:t>easurable</a:t>
            </a:r>
          </a:p>
          <a:p>
            <a:pPr marL="2743200" indent="0">
              <a:buSzPct val="75000"/>
              <a:buNone/>
            </a:pPr>
            <a:endParaRPr lang="en-US" sz="1800" dirty="0"/>
          </a:p>
        </p:txBody>
      </p:sp>
      <p:pic>
        <p:nvPicPr>
          <p:cNvPr id="19" name="Picture 18"/>
          <p:cNvPicPr>
            <a:picLocks noChangeAspect="1"/>
          </p:cNvPicPr>
          <p:nvPr/>
        </p:nvPicPr>
        <p:blipFill>
          <a:blip r:embed="rId2"/>
          <a:stretch>
            <a:fillRect/>
          </a:stretch>
        </p:blipFill>
        <p:spPr>
          <a:xfrm flipH="1">
            <a:off x="6884235" y="260648"/>
            <a:ext cx="496076" cy="1284499"/>
          </a:xfrm>
          <a:prstGeom prst="rect">
            <a:avLst/>
          </a:prstGeom>
        </p:spPr>
      </p:pic>
      <p:pic>
        <p:nvPicPr>
          <p:cNvPr id="21" name="Picture 20"/>
          <p:cNvPicPr>
            <a:picLocks noChangeAspect="1"/>
          </p:cNvPicPr>
          <p:nvPr/>
        </p:nvPicPr>
        <p:blipFill>
          <a:blip r:embed="rId3"/>
          <a:stretch>
            <a:fillRect/>
          </a:stretch>
        </p:blipFill>
        <p:spPr>
          <a:xfrm>
            <a:off x="2699792" y="1988840"/>
            <a:ext cx="1715742" cy="941976"/>
          </a:xfrm>
          <a:prstGeom prst="rect">
            <a:avLst/>
          </a:prstGeom>
        </p:spPr>
      </p:pic>
      <p:sp>
        <p:nvSpPr>
          <p:cNvPr id="14" name="Rectangle 13"/>
          <p:cNvSpPr/>
          <p:nvPr/>
        </p:nvSpPr>
        <p:spPr>
          <a:xfrm>
            <a:off x="478018" y="3258321"/>
            <a:ext cx="3481032" cy="2016224"/>
          </a:xfrm>
          <a:prstGeom prst="rect">
            <a:avLst/>
          </a:prstGeom>
          <a:solidFill>
            <a:srgbClr val="E7D6C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t>
            </a:r>
            <a:r>
              <a:rPr lang="en-US" dirty="0">
                <a:solidFill>
                  <a:srgbClr val="6600FF"/>
                </a:solidFill>
              </a:rPr>
              <a:t>verifiable </a:t>
            </a:r>
            <a:r>
              <a:rPr lang="en-US" dirty="0">
                <a:solidFill>
                  <a:schemeClr val="tx1"/>
                </a:solidFill>
              </a:rPr>
              <a:t>non-functional requirement is a statement using some </a:t>
            </a:r>
            <a:r>
              <a:rPr lang="en-US" dirty="0">
                <a:solidFill>
                  <a:srgbClr val="6600FF"/>
                </a:solidFill>
              </a:rPr>
              <a:t>measure</a:t>
            </a:r>
            <a:r>
              <a:rPr lang="en-US" dirty="0">
                <a:solidFill>
                  <a:schemeClr val="tx1"/>
                </a:solidFill>
              </a:rPr>
              <a:t> that can be objectively tested. </a:t>
            </a:r>
          </a:p>
        </p:txBody>
      </p:sp>
      <p:graphicFrame>
        <p:nvGraphicFramePr>
          <p:cNvPr id="23" name="Table 22"/>
          <p:cNvGraphicFramePr>
            <a:graphicFrameLocks noGrp="1"/>
          </p:cNvGraphicFramePr>
          <p:nvPr>
            <p:extLst>
              <p:ext uri="{D42A27DB-BD31-4B8C-83A1-F6EECF244321}">
                <p14:modId xmlns:p14="http://schemas.microsoft.com/office/powerpoint/2010/main" val="228067168"/>
              </p:ext>
            </p:extLst>
          </p:nvPr>
        </p:nvGraphicFramePr>
        <p:xfrm>
          <a:off x="4355976" y="2127840"/>
          <a:ext cx="4728388" cy="4541520"/>
        </p:xfrm>
        <a:graphic>
          <a:graphicData uri="http://schemas.openxmlformats.org/drawingml/2006/table">
            <a:tbl>
              <a:tblPr/>
              <a:tblGrid>
                <a:gridCol w="1363663">
                  <a:extLst>
                    <a:ext uri="{9D8B030D-6E8A-4147-A177-3AD203B41FA5}">
                      <a16:colId xmlns:a16="http://schemas.microsoft.com/office/drawing/2014/main" val="20000"/>
                    </a:ext>
                  </a:extLst>
                </a:gridCol>
                <a:gridCol w="3364725">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chemeClr val="bg1"/>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chemeClr val="bg1"/>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 of events causing failure</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77387749"/>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2636912"/>
            <a:ext cx="8321348" cy="3471304"/>
          </a:xfrm>
        </p:spPr>
        <p:txBody>
          <a:bodyPr>
            <a:normAutofit/>
          </a:bodyPr>
          <a:lstStyle/>
          <a:p>
            <a:pPr marL="45720" indent="0">
              <a:buSzPct val="75000"/>
              <a:buNone/>
            </a:pPr>
            <a:r>
              <a:rPr lang="en-US" sz="4400" dirty="0"/>
              <a:t> </a:t>
            </a:r>
          </a:p>
          <a:p>
            <a:pPr marL="1371600" indent="0">
              <a:buSzPct val="75000"/>
              <a:buNone/>
            </a:pPr>
            <a:r>
              <a:rPr lang="en-US" sz="4400" dirty="0"/>
              <a:t> </a:t>
            </a:r>
            <a:endParaRPr lang="en-US" sz="1800" dirty="0"/>
          </a:p>
          <a:p>
            <a:pPr marL="2971800">
              <a:buSzPct val="75000"/>
              <a:buFont typeface="Arial" panose="020B0604020202020204" pitchFamily="34" charset="0"/>
              <a:buChar char="•"/>
            </a:pPr>
            <a:r>
              <a:rPr lang="en-US" sz="4400" dirty="0"/>
              <a:t>A</a:t>
            </a:r>
            <a:r>
              <a:rPr lang="en-US" sz="1800" dirty="0"/>
              <a:t>tomic</a:t>
            </a:r>
          </a:p>
        </p:txBody>
      </p:sp>
      <p:grpSp>
        <p:nvGrpSpPr>
          <p:cNvPr id="18" name="Group 17"/>
          <p:cNvGrpSpPr/>
          <p:nvPr/>
        </p:nvGrpSpPr>
        <p:grpSpPr>
          <a:xfrm>
            <a:off x="1835696" y="4432689"/>
            <a:ext cx="1158159" cy="991741"/>
            <a:chOff x="381000" y="2737666"/>
            <a:chExt cx="1158159" cy="991741"/>
          </a:xfrm>
        </p:grpSpPr>
        <p:pic>
          <p:nvPicPr>
            <p:cNvPr id="15" name="Picture 14"/>
            <p:cNvPicPr>
              <a:picLocks noChangeAspect="1"/>
            </p:cNvPicPr>
            <p:nvPr/>
          </p:nvPicPr>
          <p:blipFill>
            <a:blip r:embed="rId2"/>
            <a:stretch>
              <a:fillRect/>
            </a:stretch>
          </p:blipFill>
          <p:spPr>
            <a:xfrm>
              <a:off x="381000" y="2737666"/>
              <a:ext cx="835737" cy="991741"/>
            </a:xfrm>
            <a:prstGeom prst="rect">
              <a:avLst/>
            </a:prstGeom>
          </p:spPr>
        </p:pic>
        <p:pic>
          <p:nvPicPr>
            <p:cNvPr id="17" name="Picture 16"/>
            <p:cNvPicPr>
              <a:picLocks noChangeAspect="1"/>
            </p:cNvPicPr>
            <p:nvPr/>
          </p:nvPicPr>
          <p:blipFill>
            <a:blip r:embed="rId3"/>
            <a:stretch>
              <a:fillRect/>
            </a:stretch>
          </p:blipFill>
          <p:spPr>
            <a:xfrm>
              <a:off x="971600" y="3214768"/>
              <a:ext cx="567559" cy="477111"/>
            </a:xfrm>
            <a:prstGeom prst="rect">
              <a:avLst/>
            </a:prstGeom>
          </p:spPr>
        </p:pic>
      </p:grpSp>
      <p:pic>
        <p:nvPicPr>
          <p:cNvPr id="19" name="Picture 18"/>
          <p:cNvPicPr>
            <a:picLocks noChangeAspect="1"/>
          </p:cNvPicPr>
          <p:nvPr/>
        </p:nvPicPr>
        <p:blipFill>
          <a:blip r:embed="rId4"/>
          <a:stretch>
            <a:fillRect/>
          </a:stretch>
        </p:blipFill>
        <p:spPr>
          <a:xfrm flipH="1">
            <a:off x="6884235" y="260648"/>
            <a:ext cx="496076" cy="1284499"/>
          </a:xfrm>
          <a:prstGeom prst="rect">
            <a:avLst/>
          </a:prstGeom>
        </p:spPr>
      </p:pic>
      <p:sp>
        <p:nvSpPr>
          <p:cNvPr id="14" name="Rectangle 13"/>
          <p:cNvSpPr/>
          <p:nvPr/>
        </p:nvSpPr>
        <p:spPr>
          <a:xfrm>
            <a:off x="971600" y="1732277"/>
            <a:ext cx="7056784" cy="2212649"/>
          </a:xfrm>
          <a:prstGeom prst="rect">
            <a:avLst/>
          </a:prstGeom>
          <a:solidFill>
            <a:srgbClr val="E7D6C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 atomic requirement describes only one piece of functionality. </a:t>
            </a:r>
          </a:p>
          <a:p>
            <a:pPr algn="ctr"/>
            <a:endParaRPr lang="en-US" dirty="0">
              <a:solidFill>
                <a:schemeClr val="tx1"/>
              </a:solidFill>
            </a:endParaRPr>
          </a:p>
          <a:p>
            <a:pPr algn="ctr"/>
            <a:r>
              <a:rPr lang="en-US" dirty="0">
                <a:solidFill>
                  <a:schemeClr val="tx1"/>
                </a:solidFill>
              </a:rPr>
              <a:t>If a requirement sounds like there are </a:t>
            </a:r>
            <a:br>
              <a:rPr lang="en-US" dirty="0">
                <a:solidFill>
                  <a:schemeClr val="tx1"/>
                </a:solidFill>
              </a:rPr>
            </a:br>
            <a:r>
              <a:rPr lang="en-US" dirty="0">
                <a:solidFill>
                  <a:schemeClr val="tx1"/>
                </a:solidFill>
              </a:rPr>
              <a:t>two or more different functions described, split it up!</a:t>
            </a:r>
          </a:p>
        </p:txBody>
      </p:sp>
    </p:spTree>
    <p:extLst>
      <p:ext uri="{BB962C8B-B14F-4D97-AF65-F5344CB8AC3E}">
        <p14:creationId xmlns:p14="http://schemas.microsoft.com/office/powerpoint/2010/main" val="2816041635"/>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1700808"/>
            <a:ext cx="8321348" cy="4407408"/>
          </a:xfrm>
        </p:spPr>
        <p:txBody>
          <a:bodyPr>
            <a:normAutofit/>
          </a:bodyPr>
          <a:lstStyle/>
          <a:p>
            <a:pPr marL="45720" indent="0">
              <a:buSzPct val="75000"/>
              <a:buNone/>
            </a:pPr>
            <a:r>
              <a:rPr lang="en-US" sz="4400" dirty="0"/>
              <a:t> </a:t>
            </a:r>
          </a:p>
          <a:p>
            <a:pPr marL="1371600" indent="0">
              <a:buSzPct val="75000"/>
              <a:buNone/>
            </a:pPr>
            <a:r>
              <a:rPr lang="en-US" sz="4400" dirty="0"/>
              <a:t> </a:t>
            </a:r>
            <a:endParaRPr lang="en-US" sz="1800" dirty="0"/>
          </a:p>
          <a:p>
            <a:pPr marL="2743200" indent="0">
              <a:buSzPct val="75000"/>
              <a:buNone/>
            </a:pPr>
            <a:r>
              <a:rPr lang="en-US" sz="4400" dirty="0"/>
              <a:t> </a:t>
            </a:r>
            <a:endParaRPr lang="en-US" sz="1800" dirty="0"/>
          </a:p>
          <a:p>
            <a:pPr marL="3487738">
              <a:buSzPct val="75000"/>
              <a:buFont typeface="Arial" panose="020B0604020202020204" pitchFamily="34" charset="0"/>
              <a:buChar char="•"/>
            </a:pPr>
            <a:r>
              <a:rPr lang="en-US" sz="4400" dirty="0"/>
              <a:t>R</a:t>
            </a:r>
            <a:r>
              <a:rPr lang="en-US" sz="1800" dirty="0"/>
              <a:t>ealistic</a:t>
            </a:r>
          </a:p>
        </p:txBody>
      </p:sp>
      <p:pic>
        <p:nvPicPr>
          <p:cNvPr id="19" name="Picture 18"/>
          <p:cNvPicPr>
            <a:picLocks noChangeAspect="1"/>
          </p:cNvPicPr>
          <p:nvPr/>
        </p:nvPicPr>
        <p:blipFill>
          <a:blip r:embed="rId2"/>
          <a:stretch>
            <a:fillRect/>
          </a:stretch>
        </p:blipFill>
        <p:spPr>
          <a:xfrm flipH="1">
            <a:off x="6884235" y="260648"/>
            <a:ext cx="496076" cy="1284499"/>
          </a:xfrm>
          <a:prstGeom prst="rect">
            <a:avLst/>
          </a:prstGeom>
        </p:spPr>
      </p:pic>
      <p:sp>
        <p:nvSpPr>
          <p:cNvPr id="2" name="Rectangle 1"/>
          <p:cNvSpPr/>
          <p:nvPr/>
        </p:nvSpPr>
        <p:spPr>
          <a:xfrm>
            <a:off x="179512" y="2175247"/>
            <a:ext cx="4572000" cy="1938992"/>
          </a:xfrm>
          <a:prstGeom prst="rect">
            <a:avLst/>
          </a:prstGeom>
        </p:spPr>
        <p:txBody>
          <a:bodyPr>
            <a:spAutoFit/>
          </a:bodyPr>
          <a:lstStyle/>
          <a:p>
            <a:pPr algn="ctr"/>
            <a:r>
              <a:rPr lang="en-US" dirty="0">
                <a:solidFill>
                  <a:srgbClr val="6600FF"/>
                </a:solidFill>
                <a:latin typeface="Comic Sans MS" panose="030F0702030302020204" pitchFamily="66" charset="0"/>
              </a:rPr>
              <a:t>Is this requirement possible to achieve, given what is known about the systems, resources, budget, and due date? </a:t>
            </a:r>
          </a:p>
          <a:p>
            <a:pPr algn="ctr"/>
            <a:endParaRPr lang="en-US" dirty="0">
              <a:solidFill>
                <a:srgbClr val="6600FF"/>
              </a:solidFill>
              <a:latin typeface="Comic Sans MS" panose="030F0702030302020204" pitchFamily="66" charset="0"/>
            </a:endParaRPr>
          </a:p>
        </p:txBody>
      </p:sp>
      <p:pic>
        <p:nvPicPr>
          <p:cNvPr id="16" name="Picture 15"/>
          <p:cNvPicPr>
            <a:picLocks noChangeAspect="1"/>
          </p:cNvPicPr>
          <p:nvPr/>
        </p:nvPicPr>
        <p:blipFill>
          <a:blip r:embed="rId3"/>
          <a:stretch>
            <a:fillRect/>
          </a:stretch>
        </p:blipFill>
        <p:spPr>
          <a:xfrm>
            <a:off x="5444211" y="2636912"/>
            <a:ext cx="2413832" cy="1962325"/>
          </a:xfrm>
          <a:prstGeom prst="rect">
            <a:avLst/>
          </a:prstGeom>
        </p:spPr>
      </p:pic>
    </p:spTree>
    <p:extLst>
      <p:ext uri="{BB962C8B-B14F-4D97-AF65-F5344CB8AC3E}">
        <p14:creationId xmlns:p14="http://schemas.microsoft.com/office/powerpoint/2010/main" val="2452105087"/>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1700808"/>
            <a:ext cx="8321348" cy="4407408"/>
          </a:xfrm>
        </p:spPr>
        <p:txBody>
          <a:bodyPr>
            <a:normAutofit/>
          </a:bodyPr>
          <a:lstStyle/>
          <a:p>
            <a:pPr marL="45720" indent="0">
              <a:buSzPct val="75000"/>
              <a:buNone/>
            </a:pPr>
            <a:r>
              <a:rPr lang="en-US" sz="4400" dirty="0"/>
              <a:t> </a:t>
            </a:r>
          </a:p>
          <a:p>
            <a:pPr marL="1371600" indent="0">
              <a:buSzPct val="75000"/>
              <a:buNone/>
            </a:pPr>
            <a:r>
              <a:rPr lang="en-US" sz="4400" dirty="0"/>
              <a:t> </a:t>
            </a:r>
            <a:endParaRPr lang="en-US" sz="1800" dirty="0"/>
          </a:p>
          <a:p>
            <a:pPr marL="2743200" indent="0">
              <a:buSzPct val="75000"/>
              <a:buNone/>
            </a:pPr>
            <a:r>
              <a:rPr lang="en-US" sz="4400" dirty="0"/>
              <a:t> </a:t>
            </a:r>
            <a:endParaRPr lang="en-US" sz="1800" dirty="0"/>
          </a:p>
          <a:p>
            <a:pPr marL="4114800" indent="0">
              <a:buSzPct val="75000"/>
              <a:buNone/>
            </a:pPr>
            <a:r>
              <a:rPr lang="en-US" sz="4400" dirty="0"/>
              <a:t> </a:t>
            </a:r>
            <a:endParaRPr lang="en-US" sz="1800" dirty="0"/>
          </a:p>
          <a:p>
            <a:pPr marL="5715000">
              <a:buSzPct val="75000"/>
              <a:buFont typeface="Arial" panose="020B0604020202020204" pitchFamily="34" charset="0"/>
              <a:buChar char="•"/>
            </a:pPr>
            <a:r>
              <a:rPr lang="en-US" sz="4400" dirty="0"/>
              <a:t>T</a:t>
            </a:r>
            <a:r>
              <a:rPr lang="en-US" sz="1800" dirty="0"/>
              <a:t>raceable</a:t>
            </a:r>
          </a:p>
        </p:txBody>
      </p:sp>
      <p:pic>
        <p:nvPicPr>
          <p:cNvPr id="19" name="Picture 18"/>
          <p:cNvPicPr>
            <a:picLocks noChangeAspect="1"/>
          </p:cNvPicPr>
          <p:nvPr/>
        </p:nvPicPr>
        <p:blipFill>
          <a:blip r:embed="rId2"/>
          <a:stretch>
            <a:fillRect/>
          </a:stretch>
        </p:blipFill>
        <p:spPr>
          <a:xfrm flipH="1">
            <a:off x="6884235" y="260648"/>
            <a:ext cx="496076" cy="1284499"/>
          </a:xfrm>
          <a:prstGeom prst="rect">
            <a:avLst/>
          </a:prstGeom>
        </p:spPr>
      </p:pic>
      <p:pic>
        <p:nvPicPr>
          <p:cNvPr id="20" name="Picture 19"/>
          <p:cNvPicPr>
            <a:picLocks noChangeAspect="1"/>
          </p:cNvPicPr>
          <p:nvPr/>
        </p:nvPicPr>
        <p:blipFill>
          <a:blip r:embed="rId3"/>
          <a:stretch>
            <a:fillRect/>
          </a:stretch>
        </p:blipFill>
        <p:spPr>
          <a:xfrm>
            <a:off x="7821488" y="5589240"/>
            <a:ext cx="1143000" cy="933450"/>
          </a:xfrm>
          <a:prstGeom prst="rect">
            <a:avLst/>
          </a:prstGeom>
        </p:spPr>
      </p:pic>
      <p:sp>
        <p:nvSpPr>
          <p:cNvPr id="23" name="Rectangle 22"/>
          <p:cNvSpPr/>
          <p:nvPr/>
        </p:nvSpPr>
        <p:spPr>
          <a:xfrm>
            <a:off x="1331640" y="1792415"/>
            <a:ext cx="6489848" cy="1564577"/>
          </a:xfrm>
          <a:prstGeom prst="rect">
            <a:avLst/>
          </a:prstGeom>
          <a:solidFill>
            <a:srgbClr val="E7D6C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traceable requirement can be uniquely identified through a numbering hierarchy and traced to parent requirements, child requirements and unit testing scripts.</a:t>
            </a:r>
          </a:p>
        </p:txBody>
      </p:sp>
      <p:sp>
        <p:nvSpPr>
          <p:cNvPr id="9" name="Rectangle 8"/>
          <p:cNvSpPr/>
          <p:nvPr/>
        </p:nvSpPr>
        <p:spPr>
          <a:xfrm>
            <a:off x="317373" y="3429000"/>
            <a:ext cx="5334747" cy="2677656"/>
          </a:xfrm>
          <a:prstGeom prst="rect">
            <a:avLst/>
          </a:prstGeom>
        </p:spPr>
        <p:txBody>
          <a:bodyPr wrap="square">
            <a:spAutoFit/>
          </a:bodyPr>
          <a:lstStyle/>
          <a:p>
            <a:pPr algn="ctr"/>
            <a:r>
              <a:rPr lang="en-US" dirty="0">
                <a:solidFill>
                  <a:srgbClr val="6600FF"/>
                </a:solidFill>
                <a:latin typeface="Comic Sans MS" panose="030F0702030302020204" pitchFamily="66" charset="0"/>
              </a:rPr>
              <a:t>If this is a technical requirement, can it be traced back to one or more business requirements? </a:t>
            </a:r>
            <a:br>
              <a:rPr lang="en-US" dirty="0">
                <a:solidFill>
                  <a:srgbClr val="6600FF"/>
                </a:solidFill>
                <a:latin typeface="Comic Sans MS" panose="030F0702030302020204" pitchFamily="66" charset="0"/>
              </a:rPr>
            </a:br>
            <a:br>
              <a:rPr lang="en-US" dirty="0">
                <a:solidFill>
                  <a:srgbClr val="6600FF"/>
                </a:solidFill>
                <a:latin typeface="Comic Sans MS" panose="030F0702030302020204" pitchFamily="66" charset="0"/>
              </a:rPr>
            </a:br>
            <a:r>
              <a:rPr lang="en-US" dirty="0">
                <a:solidFill>
                  <a:srgbClr val="6600FF"/>
                </a:solidFill>
                <a:latin typeface="Comic Sans MS" panose="030F0702030302020204" pitchFamily="66" charset="0"/>
              </a:rPr>
              <a:t>If it’s a business requirement, can it be traced back to the client goals or business problem? </a:t>
            </a:r>
          </a:p>
        </p:txBody>
      </p:sp>
    </p:spTree>
    <p:extLst>
      <p:ext uri="{BB962C8B-B14F-4D97-AF65-F5344CB8AC3E}">
        <p14:creationId xmlns:p14="http://schemas.microsoft.com/office/powerpoint/2010/main" val="3269381753"/>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1"/>
          </p:nvPr>
        </p:nvSpPr>
        <p:spPr>
          <a:xfrm>
            <a:off x="370888" y="6583680"/>
            <a:ext cx="8686800" cy="274320"/>
          </a:xfrm>
        </p:spPr>
        <p:txBody>
          <a:bodyPr/>
          <a:lstStyle/>
          <a:p>
            <a:pPr>
              <a:defRPr/>
            </a:pPr>
            <a:r>
              <a:rPr lang="en-US"/>
              <a:t>Chapter 4 Requirements Engineering</a:t>
            </a:r>
          </a:p>
        </p:txBody>
      </p:sp>
      <p:sp>
        <p:nvSpPr>
          <p:cNvPr id="6" name="Title 5"/>
          <p:cNvSpPr>
            <a:spLocks noGrp="1"/>
          </p:cNvSpPr>
          <p:nvPr>
            <p:ph type="title"/>
          </p:nvPr>
        </p:nvSpPr>
        <p:spPr/>
        <p:txBody>
          <a:bodyPr/>
          <a:lstStyle/>
          <a:p>
            <a:r>
              <a:rPr lang="en-US" dirty="0"/>
              <a:t>SMART requirements</a:t>
            </a:r>
          </a:p>
        </p:txBody>
      </p:sp>
      <p:sp>
        <p:nvSpPr>
          <p:cNvPr id="11" name="Content Placeholder 10"/>
          <p:cNvSpPr>
            <a:spLocks noGrp="1"/>
          </p:cNvSpPr>
          <p:nvPr>
            <p:ph idx="1"/>
          </p:nvPr>
        </p:nvSpPr>
        <p:spPr>
          <a:xfrm>
            <a:off x="755576" y="1700808"/>
            <a:ext cx="8321348" cy="4407408"/>
          </a:xfrm>
        </p:spPr>
        <p:txBody>
          <a:bodyPr>
            <a:normAutofit/>
          </a:bodyPr>
          <a:lstStyle/>
          <a:p>
            <a:pPr>
              <a:buSzPct val="75000"/>
              <a:buFont typeface="Arial" panose="020B0604020202020204" pitchFamily="34" charset="0"/>
              <a:buChar char="•"/>
            </a:pPr>
            <a:r>
              <a:rPr lang="en-US" sz="4400" dirty="0"/>
              <a:t>S</a:t>
            </a:r>
            <a:r>
              <a:rPr lang="en-US" sz="1800" dirty="0"/>
              <a:t>pecific</a:t>
            </a:r>
            <a:endParaRPr lang="en-US" sz="4400" dirty="0"/>
          </a:p>
          <a:p>
            <a:pPr marL="1600200">
              <a:buSzPct val="75000"/>
              <a:buFont typeface="Arial" panose="020B0604020202020204" pitchFamily="34" charset="0"/>
              <a:buChar char="•"/>
            </a:pPr>
            <a:r>
              <a:rPr lang="en-US" sz="4400" dirty="0"/>
              <a:t>M</a:t>
            </a:r>
            <a:r>
              <a:rPr lang="en-US" sz="1800" dirty="0"/>
              <a:t>easurable</a:t>
            </a:r>
          </a:p>
          <a:p>
            <a:pPr marL="2971800">
              <a:buSzPct val="75000"/>
              <a:buFont typeface="Arial" panose="020B0604020202020204" pitchFamily="34" charset="0"/>
              <a:buChar char="•"/>
            </a:pPr>
            <a:r>
              <a:rPr lang="en-US" sz="4400" dirty="0"/>
              <a:t>A</a:t>
            </a:r>
            <a:r>
              <a:rPr lang="en-US" sz="1800" dirty="0"/>
              <a:t>tomic</a:t>
            </a:r>
          </a:p>
          <a:p>
            <a:pPr marL="4343400">
              <a:buSzPct val="75000"/>
              <a:buFont typeface="Arial" panose="020B0604020202020204" pitchFamily="34" charset="0"/>
              <a:buChar char="•"/>
            </a:pPr>
            <a:r>
              <a:rPr lang="en-US" sz="4400" dirty="0"/>
              <a:t>R</a:t>
            </a:r>
            <a:r>
              <a:rPr lang="en-US" sz="1800" dirty="0"/>
              <a:t>ealistic</a:t>
            </a:r>
          </a:p>
          <a:p>
            <a:pPr marL="5715000">
              <a:buSzPct val="75000"/>
              <a:buFont typeface="Arial" panose="020B0604020202020204" pitchFamily="34" charset="0"/>
              <a:buChar char="•"/>
            </a:pPr>
            <a:r>
              <a:rPr lang="en-US" sz="4400" dirty="0"/>
              <a:t>T</a:t>
            </a:r>
            <a:r>
              <a:rPr lang="en-US" sz="1800" dirty="0"/>
              <a:t>raceable</a:t>
            </a:r>
          </a:p>
        </p:txBody>
      </p:sp>
      <p:pic>
        <p:nvPicPr>
          <p:cNvPr id="13" name="Picture 12"/>
          <p:cNvPicPr>
            <a:picLocks noChangeAspect="1"/>
          </p:cNvPicPr>
          <p:nvPr/>
        </p:nvPicPr>
        <p:blipFill>
          <a:blip r:embed="rId2"/>
          <a:stretch>
            <a:fillRect/>
          </a:stretch>
        </p:blipFill>
        <p:spPr>
          <a:xfrm>
            <a:off x="5444211" y="2636912"/>
            <a:ext cx="2413832" cy="1962325"/>
          </a:xfrm>
          <a:prstGeom prst="rect">
            <a:avLst/>
          </a:prstGeom>
        </p:spPr>
      </p:pic>
      <p:grpSp>
        <p:nvGrpSpPr>
          <p:cNvPr id="18" name="Group 17"/>
          <p:cNvGrpSpPr/>
          <p:nvPr/>
        </p:nvGrpSpPr>
        <p:grpSpPr>
          <a:xfrm>
            <a:off x="2699792" y="3717032"/>
            <a:ext cx="1158159" cy="991741"/>
            <a:chOff x="381000" y="2737666"/>
            <a:chExt cx="1158159" cy="991741"/>
          </a:xfrm>
        </p:grpSpPr>
        <p:pic>
          <p:nvPicPr>
            <p:cNvPr id="15" name="Picture 14"/>
            <p:cNvPicPr>
              <a:picLocks noChangeAspect="1"/>
            </p:cNvPicPr>
            <p:nvPr/>
          </p:nvPicPr>
          <p:blipFill>
            <a:blip r:embed="rId3"/>
            <a:stretch>
              <a:fillRect/>
            </a:stretch>
          </p:blipFill>
          <p:spPr>
            <a:xfrm>
              <a:off x="381000" y="2737666"/>
              <a:ext cx="835737" cy="991741"/>
            </a:xfrm>
            <a:prstGeom prst="rect">
              <a:avLst/>
            </a:prstGeom>
          </p:spPr>
        </p:pic>
        <p:pic>
          <p:nvPicPr>
            <p:cNvPr id="17" name="Picture 16"/>
            <p:cNvPicPr>
              <a:picLocks noChangeAspect="1"/>
            </p:cNvPicPr>
            <p:nvPr/>
          </p:nvPicPr>
          <p:blipFill>
            <a:blip r:embed="rId4"/>
            <a:stretch>
              <a:fillRect/>
            </a:stretch>
          </p:blipFill>
          <p:spPr>
            <a:xfrm>
              <a:off x="971600" y="3214768"/>
              <a:ext cx="567559" cy="477111"/>
            </a:xfrm>
            <a:prstGeom prst="rect">
              <a:avLst/>
            </a:prstGeom>
          </p:spPr>
        </p:pic>
      </p:grpSp>
      <p:pic>
        <p:nvPicPr>
          <p:cNvPr id="19" name="Picture 18"/>
          <p:cNvPicPr>
            <a:picLocks noChangeAspect="1"/>
          </p:cNvPicPr>
          <p:nvPr/>
        </p:nvPicPr>
        <p:blipFill>
          <a:blip r:embed="rId5"/>
          <a:stretch>
            <a:fillRect/>
          </a:stretch>
        </p:blipFill>
        <p:spPr>
          <a:xfrm flipH="1">
            <a:off x="6884235" y="260648"/>
            <a:ext cx="496076" cy="1284499"/>
          </a:xfrm>
          <a:prstGeom prst="rect">
            <a:avLst/>
          </a:prstGeom>
        </p:spPr>
      </p:pic>
      <p:pic>
        <p:nvPicPr>
          <p:cNvPr id="20" name="Picture 19"/>
          <p:cNvPicPr>
            <a:picLocks noChangeAspect="1"/>
          </p:cNvPicPr>
          <p:nvPr/>
        </p:nvPicPr>
        <p:blipFill>
          <a:blip r:embed="rId6"/>
          <a:stretch>
            <a:fillRect/>
          </a:stretch>
        </p:blipFill>
        <p:spPr>
          <a:xfrm>
            <a:off x="7821488" y="5589240"/>
            <a:ext cx="1143000" cy="933450"/>
          </a:xfrm>
          <a:prstGeom prst="rect">
            <a:avLst/>
          </a:prstGeom>
        </p:spPr>
      </p:pic>
      <p:pic>
        <p:nvPicPr>
          <p:cNvPr id="21" name="Picture 20"/>
          <p:cNvPicPr>
            <a:picLocks noChangeAspect="1"/>
          </p:cNvPicPr>
          <p:nvPr/>
        </p:nvPicPr>
        <p:blipFill>
          <a:blip r:embed="rId7"/>
          <a:stretch>
            <a:fillRect/>
          </a:stretch>
        </p:blipFill>
        <p:spPr>
          <a:xfrm>
            <a:off x="2699792" y="1988840"/>
            <a:ext cx="1715742" cy="941976"/>
          </a:xfrm>
          <a:prstGeom prst="rect">
            <a:avLst/>
          </a:prstGeom>
        </p:spPr>
      </p:pic>
      <p:pic>
        <p:nvPicPr>
          <p:cNvPr id="22" name="Picture 21"/>
          <p:cNvPicPr>
            <a:picLocks noChangeAspect="1"/>
          </p:cNvPicPr>
          <p:nvPr/>
        </p:nvPicPr>
        <p:blipFill>
          <a:blip r:embed="rId8"/>
          <a:stretch>
            <a:fillRect/>
          </a:stretch>
        </p:blipFill>
        <p:spPr>
          <a:xfrm>
            <a:off x="204714" y="2086918"/>
            <a:ext cx="838894" cy="1270074"/>
          </a:xfrm>
          <a:prstGeom prst="rect">
            <a:avLst/>
          </a:prstGeom>
        </p:spPr>
      </p:pic>
    </p:spTree>
    <p:extLst>
      <p:ext uri="{BB962C8B-B14F-4D97-AF65-F5344CB8AC3E}">
        <p14:creationId xmlns:p14="http://schemas.microsoft.com/office/powerpoint/2010/main" val="3119642960"/>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dirty="0" err="1"/>
              <a:t>MoSCoW</a:t>
            </a:r>
            <a:endParaRPr lang="en-GB" dirty="0"/>
          </a:p>
        </p:txBody>
      </p:sp>
      <p:sp>
        <p:nvSpPr>
          <p:cNvPr id="61443" name="Rectangle 3"/>
          <p:cNvSpPr>
            <a:spLocks noGrp="1" noChangeArrowheads="1"/>
          </p:cNvSpPr>
          <p:nvPr>
            <p:ph idx="1"/>
          </p:nvPr>
        </p:nvSpPr>
        <p:spPr/>
        <p:txBody>
          <a:bodyPr/>
          <a:lstStyle/>
          <a:p>
            <a:pPr>
              <a:spcAft>
                <a:spcPts val="0"/>
              </a:spcAft>
            </a:pPr>
            <a:r>
              <a:rPr lang="en-US" b="1" dirty="0"/>
              <a:t>M</a:t>
            </a:r>
            <a:r>
              <a:rPr lang="en-US" dirty="0"/>
              <a:t>ust have</a:t>
            </a:r>
          </a:p>
          <a:p>
            <a:pPr>
              <a:spcAft>
                <a:spcPts val="0"/>
              </a:spcAft>
            </a:pPr>
            <a:r>
              <a:rPr lang="en-US" b="1" dirty="0"/>
              <a:t>S</a:t>
            </a:r>
            <a:r>
              <a:rPr lang="en-US" dirty="0"/>
              <a:t>hould have</a:t>
            </a:r>
          </a:p>
          <a:p>
            <a:pPr>
              <a:spcAft>
                <a:spcPts val="0"/>
              </a:spcAft>
            </a:pPr>
            <a:r>
              <a:rPr lang="en-US" b="1" dirty="0"/>
              <a:t>C</a:t>
            </a:r>
            <a:r>
              <a:rPr lang="en-US" dirty="0"/>
              <a:t>ould have</a:t>
            </a:r>
          </a:p>
          <a:p>
            <a:pPr>
              <a:spcAft>
                <a:spcPts val="0"/>
              </a:spcAft>
            </a:pPr>
            <a:r>
              <a:rPr lang="en-US" b="1" dirty="0"/>
              <a:t>W</a:t>
            </a:r>
            <a:r>
              <a:rPr lang="en-US" dirty="0"/>
              <a:t>on’t have (but </a:t>
            </a:r>
            <a:r>
              <a:rPr lang="en-US" b="1" dirty="0"/>
              <a:t>W</a:t>
            </a:r>
            <a:r>
              <a:rPr lang="en-US" dirty="0"/>
              <a:t>ould like in future)</a:t>
            </a:r>
          </a:p>
          <a:p>
            <a:pPr>
              <a:spcAft>
                <a:spcPts val="0"/>
              </a:spcAft>
            </a:pPr>
            <a:r>
              <a:rPr lang="en-US" sz="1800" dirty="0"/>
              <a:t>‘Must Haves‘ are features that must be included before the product can be launched.</a:t>
            </a:r>
          </a:p>
          <a:p>
            <a:pPr>
              <a:spcAft>
                <a:spcPts val="0"/>
              </a:spcAft>
            </a:pPr>
            <a:r>
              <a:rPr lang="en-US" sz="1800" dirty="0"/>
              <a:t>‘Should Haves‘ are features that are not critical to launch, but are considered to be important and of a high value to the user.</a:t>
            </a:r>
          </a:p>
          <a:p>
            <a:pPr>
              <a:spcAft>
                <a:spcPts val="0"/>
              </a:spcAft>
            </a:pPr>
            <a:r>
              <a:rPr lang="en-US" sz="1800" dirty="0"/>
              <a:t>‘Could Haves‘ are features that are nice to have and could potentially be included without incurring too much effort or cost. </a:t>
            </a:r>
          </a:p>
          <a:p>
            <a:pPr>
              <a:spcAft>
                <a:spcPts val="0"/>
              </a:spcAft>
            </a:pPr>
            <a:r>
              <a:rPr lang="en-US" sz="1800" dirty="0"/>
              <a:t>‘Won’t Haves‘ are features that have been requested but are explicitly excluded from scope for the planned duration, and may be included in a future phase of development.</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Tree>
    <p:extLst>
      <p:ext uri="{BB962C8B-B14F-4D97-AF65-F5344CB8AC3E}">
        <p14:creationId xmlns:p14="http://schemas.microsoft.com/office/powerpoint/2010/main" val="2154696999"/>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84416435"/>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because of system and environmental complexity, it 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46351544"/>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r>
              <a:rPr lang="en-GB" dirty="0"/>
              <a:t>Use cases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a:t>
            </a:r>
          </a:p>
          <a:p>
            <a:r>
              <a:rPr lang="en-GB" dirty="0"/>
              <a:t>UML sequence 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GB"/>
              <a:t>30/10/2014</a:t>
            </a:r>
            <a:endParaRPr lang="en-US"/>
          </a:p>
        </p:txBody>
      </p:sp>
      <p:sp>
        <p:nvSpPr>
          <p:cNvPr id="4" name="Footer Placeholder 3"/>
          <p:cNvSpPr>
            <a:spLocks noGrp="1"/>
          </p:cNvSpPr>
          <p:nvPr>
            <p:ph type="ftr" sz="quarter" idx="12"/>
          </p:nvPr>
        </p:nvSpPr>
        <p:spPr/>
        <p:txBody>
          <a:bodyPr/>
          <a:lstStyle/>
          <a:p>
            <a:pPr>
              <a:defRPr/>
            </a:pPr>
            <a:r>
              <a:rPr lang="en-US"/>
              <a:t>Chapter 4 Requirements Engineering</a:t>
            </a:r>
          </a:p>
        </p:txBody>
      </p:sp>
      <p:sp>
        <p:nvSpPr>
          <p:cNvPr id="2" name="Title 1"/>
          <p:cNvSpPr>
            <a:spLocks noGrp="1"/>
          </p:cNvSpPr>
          <p:nvPr>
            <p:ph type="title"/>
          </p:nvPr>
        </p:nvSpPr>
        <p:spPr>
          <a:xfrm>
            <a:off x="722313" y="2564904"/>
            <a:ext cx="7772400" cy="1362075"/>
          </a:xfrm>
        </p:spPr>
        <p:txBody>
          <a:bodyPr/>
          <a:lstStyle/>
          <a:p>
            <a:pPr algn="ctr"/>
            <a:r>
              <a:rPr lang="en-US" dirty="0">
                <a:solidFill>
                  <a:schemeClr val="tx1"/>
                </a:solidFill>
              </a:rPr>
              <a:t>Requirements</a:t>
            </a:r>
            <a:br>
              <a:rPr lang="en-US" dirty="0">
                <a:solidFill>
                  <a:schemeClr val="tx1"/>
                </a:solidFill>
              </a:rPr>
            </a:br>
            <a:r>
              <a:rPr lang="en-US" dirty="0">
                <a:solidFill>
                  <a:schemeClr val="tx1"/>
                </a:solidFill>
              </a:rPr>
              <a:t>Documentation</a:t>
            </a:r>
          </a:p>
        </p:txBody>
      </p:sp>
    </p:spTree>
    <p:extLst>
      <p:ext uri="{BB962C8B-B14F-4D97-AF65-F5344CB8AC3E}">
        <p14:creationId xmlns:p14="http://schemas.microsoft.com/office/powerpoint/2010/main" val="17431142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idx="1"/>
          </p:nvPr>
        </p:nvSpPr>
        <p:spPr>
          <a:noFill/>
          <a:ln/>
        </p:spPr>
        <p:txBody>
          <a:bodyPr lIns="90487" tIns="44450" rIns="90487" bIns="44450"/>
          <a:lstStyle/>
          <a:p>
            <a:r>
              <a:rPr lang="en-GB" sz="2000" dirty="0"/>
              <a:t>The software requirements document is the official statement of what is required of the system developers.</a:t>
            </a:r>
          </a:p>
          <a:p>
            <a:r>
              <a:rPr lang="en-GB" sz="2000" dirty="0"/>
              <a:t>Should include both a definition of user requirements and a specification of the system requirements.</a:t>
            </a:r>
          </a:p>
          <a:p>
            <a:r>
              <a:rPr lang="en-GB" sz="2000" dirty="0"/>
              <a:t>It is NOT a design document. As far as possible, it should set of WHAT the system should do rather than HOW it should do it.</a:t>
            </a:r>
          </a:p>
          <a:p>
            <a:r>
              <a:rPr lang="en-US" sz="1800" dirty="0"/>
              <a:t>The process of writing down the user and system requirements in a requirements document.</a:t>
            </a:r>
          </a:p>
          <a:p>
            <a:r>
              <a:rPr lang="en-US" sz="1800" dirty="0"/>
              <a:t>User requirements have to be understandable by end-users and customers who do not have a technical background.</a:t>
            </a:r>
          </a:p>
          <a:p>
            <a:r>
              <a:rPr lang="en-US" sz="1800" dirty="0"/>
              <a:t>System requirements are more detailed requirements and may include more technical information.</a:t>
            </a:r>
          </a:p>
          <a:p>
            <a:r>
              <a:rPr lang="en-US" sz="1800" dirty="0"/>
              <a:t>The requirements may be part of a contract for the system development</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Tree>
    <p:extLst>
      <p:ext uri="{BB962C8B-B14F-4D97-AF65-F5344CB8AC3E}">
        <p14:creationId xmlns:p14="http://schemas.microsoft.com/office/powerpoint/2010/main" val="360449160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r>
              <a:rPr lang="en-US" dirty="0"/>
              <a:t>Information in requirements document depends on type of system and the approach to development used.</a:t>
            </a:r>
          </a:p>
          <a:p>
            <a:r>
              <a:rPr lang="en-US" dirty="0"/>
              <a:t>Systems developed incrementally will, typically, have less detail in the requirements document.</a:t>
            </a:r>
          </a:p>
          <a:p>
            <a:r>
              <a:rPr lang="en-US" dirty="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a:t>Requirements validation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dirty="0"/>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 Does the system provide the functions which best support the customer’s needs?</a:t>
            </a:r>
          </a:p>
          <a:p>
            <a:r>
              <a:rPr lang="en-GB" sz="2400" dirty="0">
                <a:solidFill>
                  <a:srgbClr val="000000"/>
                </a:solidFill>
              </a:rPr>
              <a:t>Consistency. Are there any requirements conflicts?</a:t>
            </a:r>
          </a:p>
          <a:p>
            <a:r>
              <a:rPr lang="en-GB" sz="2400" dirty="0">
                <a:solidFill>
                  <a:srgbClr val="000000"/>
                </a:solidFill>
              </a:rPr>
              <a:t>Completeness. Are all functions required by the customer included?</a:t>
            </a:r>
          </a:p>
          <a:p>
            <a:r>
              <a:rPr lang="en-GB" sz="2400" dirty="0">
                <a:solidFill>
                  <a:srgbClr val="000000"/>
                </a:solidFill>
              </a:rPr>
              <a:t>Realism. Can 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 2.</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dirty="0"/>
              <a:t>Regular reviews should be held while the requirements definition is being formulated.</a:t>
            </a:r>
          </a:p>
          <a:p>
            <a:r>
              <a:rPr lang="en-GB" dirty="0"/>
              <a:t>Both client and contractor staff should be involved in reviews.</a:t>
            </a:r>
          </a:p>
          <a:p>
            <a:r>
              <a:rPr lang="en-GB" dirty="0"/>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change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dirty="0"/>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304800" y="1524000"/>
            <a:ext cx="8686800" cy="4525963"/>
          </a:xfrm>
        </p:spPr>
        <p:txBody>
          <a:bodyPr/>
          <a:lstStyle/>
          <a:p>
            <a:r>
              <a:rPr lang="en-US" dirty="0"/>
              <a:t>Establishes the level of requirements management detail that is required.</a:t>
            </a:r>
          </a:p>
          <a:p>
            <a:r>
              <a:rPr lang="en-US" dirty="0"/>
              <a:t>Requirements management decisions:</a:t>
            </a:r>
          </a:p>
          <a:p>
            <a:pPr lvl="1"/>
            <a:r>
              <a:rPr lang="en-US" i="1" dirty="0">
                <a:solidFill>
                  <a:schemeClr val="tx1"/>
                </a:solidFill>
              </a:rPr>
              <a:t>Requirements identificati</a:t>
            </a:r>
            <a:r>
              <a:rPr lang="en-US" i="1" dirty="0">
                <a:solidFill>
                  <a:srgbClr val="000000"/>
                </a:solidFill>
              </a:rPr>
              <a:t>on</a:t>
            </a:r>
            <a:r>
              <a:rPr lang="en-US" dirty="0">
                <a:solidFill>
                  <a:srgbClr val="FF0000"/>
                </a:solidFill>
              </a:rPr>
              <a:t> </a:t>
            </a:r>
            <a:r>
              <a:rPr lang="en-US" dirty="0"/>
              <a:t>Each requirement must be uniquely identified so that it can be cross-referenced with other requirements. </a:t>
            </a:r>
            <a:endParaRPr lang="en-GB" dirty="0"/>
          </a:p>
          <a:p>
            <a:pPr lvl="1"/>
            <a:r>
              <a:rPr lang="en-US" i="1" dirty="0">
                <a:solidFill>
                  <a:srgbClr val="000000"/>
                </a:solidFill>
              </a:rPr>
              <a:t>A change management process</a:t>
            </a:r>
            <a:r>
              <a:rPr lang="en-US" dirty="0">
                <a:solidFill>
                  <a:srgbClr val="000000"/>
                </a:solidFill>
              </a:rPr>
              <a:t> </a:t>
            </a:r>
            <a:r>
              <a:rPr lang="en-US" dirty="0"/>
              <a:t>This is the set of activities that assess the impact and cost of changes. I discuss this process in more detail in the following section.</a:t>
            </a:r>
            <a:endParaRPr lang="en-GB" dirty="0"/>
          </a:p>
          <a:p>
            <a:pPr lvl="1"/>
            <a:r>
              <a:rPr lang="en-US" i="1" dirty="0">
                <a:solidFill>
                  <a:srgbClr val="000000"/>
                </a:solidFill>
              </a:rPr>
              <a:t>Traceability policies</a:t>
            </a:r>
            <a:r>
              <a:rPr lang="en-US" dirty="0">
                <a:solidFill>
                  <a:srgbClr val="000000"/>
                </a:solidFill>
              </a:rPr>
              <a:t> </a:t>
            </a:r>
            <a:r>
              <a:rPr lang="en-US" dirty="0"/>
              <a:t>These policies define the relationships between each requirement and between the requirements and the system design that should be recorded. </a:t>
            </a:r>
            <a:endParaRPr lang="en-GB" dirty="0"/>
          </a:p>
          <a:p>
            <a:pPr lvl="1"/>
            <a:r>
              <a:rPr lang="en-US" i="1" dirty="0">
                <a:solidFill>
                  <a:srgbClr val="000000"/>
                </a:solidFill>
              </a:rPr>
              <a:t>Tool support</a:t>
            </a:r>
            <a:r>
              <a:rPr lang="en-US" dirty="0">
                <a:solidFill>
                  <a:srgbClr val="000000"/>
                </a:solidFill>
              </a:rPr>
              <a:t> </a:t>
            </a:r>
            <a:r>
              <a:rPr lang="en-US" dirty="0"/>
              <a:t>Tools that may be used range from specialist requirements management systems to spreadsheets and simple database systems.</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60</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p:txBody>
          <a:bodyPr/>
          <a:lstStyle/>
          <a:p>
            <a:r>
              <a:rPr lang="en-US" dirty="0">
                <a:solidFill>
                  <a:srgbClr val="000000"/>
                </a:solidFill>
              </a:rPr>
              <a:t>Deciding if a requirements change should be accepted</a:t>
            </a:r>
          </a:p>
          <a:p>
            <a:pPr lvl="1"/>
            <a:r>
              <a:rPr lang="en-US" i="1" dirty="0">
                <a:solidFill>
                  <a:srgbClr val="000000"/>
                </a:solidFill>
              </a:rPr>
              <a:t>Problem analysis and change specification</a:t>
            </a:r>
            <a:r>
              <a:rPr lang="en-US" dirty="0">
                <a:solidFill>
                  <a:srgbClr val="000000"/>
                </a:solidFill>
              </a:rPr>
              <a:t> </a:t>
            </a:r>
          </a:p>
          <a:p>
            <a:pPr lvl="2"/>
            <a:r>
              <a:rPr lang="en-US" dirty="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a:solidFill>
                <a:srgbClr val="000000"/>
              </a:solidFill>
            </a:endParaRPr>
          </a:p>
          <a:p>
            <a:pPr lvl="1"/>
            <a:r>
              <a:rPr lang="en-US" i="1" dirty="0">
                <a:solidFill>
                  <a:srgbClr val="000000"/>
                </a:solidFill>
              </a:rPr>
              <a:t>Change analysis and costing</a:t>
            </a:r>
            <a:r>
              <a:rPr lang="en-US" dirty="0">
                <a:solidFill>
                  <a:srgbClr val="000000"/>
                </a:solidFill>
              </a:rPr>
              <a:t> </a:t>
            </a:r>
          </a:p>
          <a:p>
            <a:pPr lvl="2"/>
            <a:r>
              <a:rPr lang="en-US" dirty="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a:solidFill>
                <a:srgbClr val="000000"/>
              </a:solidFill>
            </a:endParaRPr>
          </a:p>
          <a:p>
            <a:pPr lvl="1"/>
            <a:r>
              <a:rPr lang="en-US" dirty="0">
                <a:solidFill>
                  <a:srgbClr val="000000"/>
                </a:solidFill>
              </a:rPr>
              <a:t>Change implementation </a:t>
            </a:r>
          </a:p>
          <a:p>
            <a:pPr lvl="2"/>
            <a:r>
              <a:rPr lang="en-US" dirty="0">
                <a:solidFill>
                  <a:srgbClr val="000000"/>
                </a:solidFill>
              </a:rPr>
              <a:t>The requirements document and, where necessary, the system design and implementation, are modified. Ideally, the document should be organized so that changes can be easily implemented.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38638654"/>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requirements engineering process is an iterative process that includes requirements elicitation, specification and validation.</a:t>
            </a:r>
            <a:endParaRPr lang="en-GB" dirty="0"/>
          </a:p>
          <a:p>
            <a:r>
              <a:rPr lang="en-US" dirty="0"/>
              <a:t>Requirements elicitation is an iterative process that can be represented as a spiral of activities – requirements discovery, requirements classification and organization, requirements negotiation and requirements documentation.</a:t>
            </a:r>
            <a:r>
              <a:rPr lang="en-GB" dirty="0"/>
              <a:t> </a:t>
            </a:r>
          </a:p>
          <a:p>
            <a:r>
              <a:rPr lang="en-US" dirty="0"/>
              <a:t>You can use a range of techniques for requirements elicitation including interviews and ethnography. User stories and scenarios may be used to facilitate discussions.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specification is the process of formally documenting the user and system requirements and creating a software requirements document.</a:t>
            </a:r>
          </a:p>
          <a:p>
            <a:r>
              <a:rPr lang="en-US" dirty="0"/>
              <a:t>The software requirements document is an agreed statement of the system requirements. It should be organized so that both system customers and software developers can use it.</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endParaRPr lang="en-US" dirty="0"/>
          </a:p>
        </p:txBody>
      </p:sp>
      <p:sp>
        <p:nvSpPr>
          <p:cNvPr id="3" name="Content Placeholder 2"/>
          <p:cNvSpPr>
            <a:spLocks noGrp="1"/>
          </p:cNvSpPr>
          <p:nvPr>
            <p:ph idx="1"/>
          </p:nvPr>
        </p:nvSpPr>
        <p:spPr/>
        <p:txBody>
          <a:bodyPr/>
          <a:lstStyle/>
          <a:p>
            <a:r>
              <a:rPr lang="en-US" dirty="0"/>
              <a:t>Requirements validation is the process of checking the requirements for validity, consistency, completeness, realism and verifiability. </a:t>
            </a:r>
            <a:endParaRPr lang="en-GB" dirty="0"/>
          </a:p>
          <a:p>
            <a:r>
              <a:rPr lang="en-US" dirty="0"/>
              <a:t>Business, organizational and technical changes inevitably lead to changes to the requirements for a software system. Requirements management is the process of managing and controlling these changes.</a:t>
            </a:r>
            <a:endParaRPr lang="en-GB" dirty="0"/>
          </a:p>
          <a:p>
            <a:endParaRPr lang="en-US" dirty="0"/>
          </a:p>
        </p:txBody>
      </p:sp>
      <p:sp>
        <p:nvSpPr>
          <p:cNvPr id="5" name="Footer Placeholder 4"/>
          <p:cNvSpPr>
            <a:spLocks noGrp="1"/>
          </p:cNvSpPr>
          <p:nvPr>
            <p:ph type="ftr" sz="quarter" idx="11"/>
          </p:nvPr>
        </p:nvSpPr>
        <p:spPr/>
        <p:txBody>
          <a:bodyPr/>
          <a:lstStyle/>
          <a:p>
            <a:r>
              <a:rPr lang="en-US"/>
              <a:t>Chapter 4 Requirements Engineering</a:t>
            </a:r>
          </a:p>
        </p:txBody>
      </p:sp>
      <p:sp>
        <p:nvSpPr>
          <p:cNvPr id="4" name="Slide Number Placeholder 3"/>
          <p:cNvSpPr>
            <a:spLocks noGrp="1"/>
          </p:cNvSpPr>
          <p:nvPr>
            <p:ph type="sldNum" sz="quarter" idx="12"/>
          </p:nvPr>
        </p:nvSpPr>
        <p:spPr/>
        <p:txBody>
          <a:bodyPr/>
          <a:lstStyle/>
          <a:p>
            <a:fld id="{825F70CE-84E9-D04C-9B15-10C693AA0F2A}" type="slidenum">
              <a:rPr lang="en-US" smtClean="0"/>
              <a:pPr/>
              <a:t>66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4912</TotalTime>
  <Words>4067</Words>
  <Application>Microsoft Office PowerPoint</Application>
  <PresentationFormat>On-screen Show (4:3)</PresentationFormat>
  <Paragraphs>543</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Comic Sans MS</vt:lpstr>
      <vt:lpstr>Wingdings</vt:lpstr>
      <vt:lpstr>Zapf Dingbats</vt:lpstr>
      <vt:lpstr>SE10 slides</vt:lpstr>
      <vt:lpstr>Chapter 4 – Requirements Engineering</vt:lpstr>
      <vt:lpstr>Topics covered</vt:lpstr>
      <vt:lpstr>Requirements engineering</vt:lpstr>
      <vt:lpstr>What is a requirement?</vt:lpstr>
      <vt:lpstr>Types of requirements</vt:lpstr>
      <vt:lpstr>User and system requirements </vt:lpstr>
      <vt:lpstr>Readers of different types of requirements specification </vt:lpstr>
      <vt:lpstr>System stakeholders</vt:lpstr>
      <vt:lpstr>Functional and non-functional requirements</vt:lpstr>
      <vt:lpstr>Functional and non-functional requirements</vt:lpstr>
      <vt:lpstr>Functional requirements</vt:lpstr>
      <vt:lpstr>Non-functional requirements</vt:lpstr>
      <vt:lpstr>Types of nonfunctional requirement </vt:lpstr>
      <vt:lpstr>Non-functional classifications</vt:lpstr>
      <vt:lpstr>NFR Example - Usability requirements</vt:lpstr>
      <vt:lpstr>Domain Requirements</vt:lpstr>
      <vt:lpstr>Metrics for specifying nonfunctional requirements</vt:lpstr>
      <vt:lpstr>Requirements engineering processes</vt:lpstr>
      <vt:lpstr>Requirements engineering processes</vt:lpstr>
      <vt:lpstr>A spiral view of the requirements engineering process </vt:lpstr>
      <vt:lpstr>Requirements elicitation  Video</vt:lpstr>
      <vt:lpstr>Requirements elicitation</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Requirements specification</vt:lpstr>
      <vt:lpstr>Requirements specification</vt:lpstr>
      <vt:lpstr>Ways of writing a system requirements specification </vt:lpstr>
      <vt:lpstr>Requirements and design</vt:lpstr>
      <vt:lpstr>SMART requirements</vt:lpstr>
      <vt:lpstr>SMART requirements</vt:lpstr>
      <vt:lpstr>SMART requirements</vt:lpstr>
      <vt:lpstr>SMART requirements</vt:lpstr>
      <vt:lpstr>SMART requirements</vt:lpstr>
      <vt:lpstr>SMART requirements</vt:lpstr>
      <vt:lpstr>MoSCoW</vt:lpstr>
      <vt:lpstr>Requirements imprecision</vt:lpstr>
      <vt:lpstr>Requirements completeness and consistency</vt:lpstr>
      <vt:lpstr>Use cases</vt:lpstr>
      <vt:lpstr>Use cases for the Mentcare system</vt:lpstr>
      <vt:lpstr>Requirements Documentation</vt:lpstr>
      <vt:lpstr>The software requirements document</vt:lpstr>
      <vt:lpstr>Users of a requirements document </vt:lpstr>
      <vt:lpstr>Requirements document variability</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Jeffrey Pierantozzi</cp:lastModifiedBy>
  <cp:revision>49</cp:revision>
  <cp:lastPrinted>2010-01-11T10:54:43Z</cp:lastPrinted>
  <dcterms:created xsi:type="dcterms:W3CDTF">2010-01-08T19:43:52Z</dcterms:created>
  <dcterms:modified xsi:type="dcterms:W3CDTF">2020-09-25T01:34:06Z</dcterms:modified>
</cp:coreProperties>
</file>